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is SecureText, a desktop application that sends messages securely using RSA. It protects secrecy, detects changes, and proves who sent a message.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Normally to use secret-key encryption you must first share the key safely. Public-key cryptography removes that problem. My app makes these ideas usable and visible.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threats: someone reads the message, someone changes it, or someone pretends to be the sender. Also, RSA has size limits and needs proper padding.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goals of the project. Each one maps to a tab in the application and to automated tests.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public key as an open padlock anyone can close, and the private key as the only key that opens it. Diffie and Hellman introduced the idea in 1976, and RSA made it practical in 1978.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exact steps from the syllabus. The small example is only for learning. In the real application the numbers are 2048 bits long and we always use padding.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separates the interface from the cryptography. That makes the crypto code easy to test without opening a window.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button works. The demo buttons deliberately use wrong keys or modified data to show how failure looks.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OAEP adds randomness, so the same message gives a different ciphertext every time. If anything is wrong, decryption fails instead of giving wrong text.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signature is like a stamp only you can make. Anyone can check it, but nobody can forge it. The message itself stays readable.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real systems like TLS work in principle: public-key crypto protects a small key, and a fast symmetric cipher protects the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application windows here. Take the screenshots yourself by running the program, as listed in the screenshots folder.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results from an actual run. Please run the tests again on your own laptop and quote the numbers you see on screen.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honest about limits. The algorithms are standard and used correctly, but a complete system would also need certificates and key lifecycle management.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the project shows how RSA is used correctly in practice, and demonstrates failures as well as successes.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731520" y="1280160"/>
            <a:ext cx="10698480" cy="1097280"/>
          </a:xfrm>
          <a:prstGeom prst="rect">
            <a:avLst/>
          </a:prstGeom>
          <a:noFill/>
        </p:spPr>
        <p:txBody>
          <a:bodyPr wrap="none">
            <a:spAutoFit/>
          </a:bodyPr>
          <a:lstStyle/>
          <a:p>
            <a:pPr>
              <a:defRPr sz="6000" b="1">
                <a:solidFill>
                  <a:srgbClr val="FFFFFF"/>
                </a:solidFill>
              </a:defRPr>
            </a:pPr>
            <a:r>
              <a:t>SecureText</a:t>
            </a:r>
          </a:p>
        </p:txBody>
      </p:sp>
      <p:sp>
        <p:nvSpPr>
          <p:cNvPr id="3" name="TextBox 2"/>
          <p:cNvSpPr txBox="1"/>
          <p:nvPr/>
        </p:nvSpPr>
        <p:spPr>
          <a:xfrm>
            <a:off x="731520" y="2651760"/>
            <a:ext cx="10698480" cy="3200400"/>
          </a:xfrm>
          <a:prstGeom prst="rect">
            <a:avLst/>
          </a:prstGeom>
          <a:noFill/>
        </p:spPr>
        <p:txBody>
          <a:bodyPr wrap="square">
            <a:spAutoFit/>
          </a:bodyPr>
          <a:lstStyle/>
          <a:p>
            <a:pPr>
              <a:spcAft>
                <a:spcPts val="1200"/>
              </a:spcAft>
              <a:defRPr sz="2200">
                <a:solidFill>
                  <a:srgbClr val="BFD7EA"/>
                </a:solidFill>
              </a:defRPr>
            </a:pPr>
            <a:r>
              <a:t>A Secure Message Communication System Using RSA Public-Key Cryptography, Digital Signatures, and Message Integrity Verification</a:t>
            </a:r>
          </a:p>
          <a:p>
            <a:pPr>
              <a:spcAft>
                <a:spcPts val="1200"/>
              </a:spcAft>
              <a:defRPr sz="1800">
                <a:solidFill>
                  <a:srgbClr val="BFD7EA"/>
                </a:solidFill>
              </a:defRPr>
            </a:pPr>
            <a:r>
              <a:t>[YOUR NAME]  |  USN: [YOUR USN]</a:t>
            </a:r>
          </a:p>
          <a:p>
            <a:pPr>
              <a:spcAft>
                <a:spcPts val="1200"/>
              </a:spcAft>
              <a:defRPr sz="1800">
                <a:solidFill>
                  <a:srgbClr val="BFD7EA"/>
                </a:solidFill>
              </a:defRPr>
            </a:pPr>
            <a:r>
              <a:t>[YOUR COLLEGE], [YOUR DEPARTMENT]  |  Guide: [GUIDE NAME]  |  [YYYY-YY]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Introduction</a:t>
            </a:r>
          </a:p>
        </p:txBody>
      </p:sp>
      <p:sp>
        <p:nvSpPr>
          <p:cNvPr id="4" name="TextBox 3"/>
          <p:cNvSpPr txBox="1"/>
          <p:nvPr/>
        </p:nvSpPr>
        <p:spPr>
          <a:xfrm>
            <a:off x="548640" y="1371600"/>
            <a:ext cx="11064240" cy="4937760"/>
          </a:xfrm>
          <a:prstGeom prst="rect">
            <a:avLst/>
          </a:prstGeom>
          <a:noFill/>
        </p:spPr>
        <p:txBody>
          <a:bodyPr wrap="square">
            <a:spAutoFit/>
          </a:bodyPr>
          <a:lstStyle/>
          <a:p>
            <a:pPr>
              <a:spcAft>
                <a:spcPts val="1000"/>
              </a:spcAft>
              <a:defRPr sz="2400">
                <a:solidFill>
                  <a:srgbClr val="1B2430"/>
                </a:solidFill>
              </a:defRPr>
            </a:pPr>
            <a:r>
              <a:t>• Messages travel over networks anyone can watch</a:t>
            </a:r>
          </a:p>
          <a:p>
            <a:pPr>
              <a:spcAft>
                <a:spcPts val="1000"/>
              </a:spcAft>
              <a:defRPr sz="2400">
                <a:solidFill>
                  <a:srgbClr val="1B2430"/>
                </a:solidFill>
              </a:defRPr>
            </a:pPr>
            <a:r>
              <a:t>• Public-key cryptography lets two people communicate securely without sharing a secret first</a:t>
            </a:r>
          </a:p>
          <a:p>
            <a:pPr>
              <a:spcAft>
                <a:spcPts val="1000"/>
              </a:spcAft>
              <a:defRPr sz="2400">
                <a:solidFill>
                  <a:srgbClr val="1B2430"/>
                </a:solidFill>
              </a:defRPr>
            </a:pPr>
            <a:r>
              <a:t>• SecureText turns RSA, signatures and AES-GCM into an easy offline desktop tool</a:t>
            </a:r>
          </a:p>
          <a:p>
            <a:pPr>
              <a:spcAft>
                <a:spcPts val="1000"/>
              </a:spcAft>
              <a:defRPr sz="2400">
                <a:solidFill>
                  <a:srgbClr val="1B2430"/>
                </a:solidFill>
              </a:defRPr>
            </a:pPr>
            <a:r>
              <a:t>• Built with Python, Tkinter and the 'cryptography' library</a:t>
            </a:r>
          </a:p>
        </p:txBody>
      </p:sp>
      <p:sp>
        <p:nvSpPr>
          <p:cNvPr id="5" name="TextBox 4"/>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Problem Statement</a:t>
            </a:r>
          </a:p>
        </p:txBody>
      </p:sp>
      <p:sp>
        <p:nvSpPr>
          <p:cNvPr id="4" name="TextBox 3"/>
          <p:cNvSpPr txBox="1"/>
          <p:nvPr/>
        </p:nvSpPr>
        <p:spPr>
          <a:xfrm>
            <a:off x="548640" y="1371600"/>
            <a:ext cx="11064240" cy="4937760"/>
          </a:xfrm>
          <a:prstGeom prst="rect">
            <a:avLst/>
          </a:prstGeom>
          <a:noFill/>
        </p:spPr>
        <p:txBody>
          <a:bodyPr wrap="square">
            <a:spAutoFit/>
          </a:bodyPr>
          <a:lstStyle/>
          <a:p>
            <a:pPr>
              <a:spcAft>
                <a:spcPts val="1000"/>
              </a:spcAft>
              <a:defRPr sz="2400">
                <a:solidFill>
                  <a:srgbClr val="1B2430"/>
                </a:solidFill>
              </a:defRPr>
            </a:pPr>
            <a:r>
              <a:t>• Plain messages can be read and altered in transit</a:t>
            </a:r>
          </a:p>
          <a:p>
            <a:pPr>
              <a:spcAft>
                <a:spcPts val="1000"/>
              </a:spcAft>
              <a:defRPr sz="2400">
                <a:solidFill>
                  <a:srgbClr val="1B2430"/>
                </a:solidFill>
              </a:defRPr>
            </a:pPr>
            <a:r>
              <a:t>• Receiver cannot be sure who really sent a message</a:t>
            </a:r>
          </a:p>
          <a:p>
            <a:pPr>
              <a:spcAft>
                <a:spcPts val="1000"/>
              </a:spcAft>
              <a:defRPr sz="2400">
                <a:solidFill>
                  <a:srgbClr val="1B2430"/>
                </a:solidFill>
              </a:defRPr>
            </a:pPr>
            <a:r>
              <a:t>• Symmetric keys are hard to distribute securely</a:t>
            </a:r>
          </a:p>
          <a:p>
            <a:pPr>
              <a:spcAft>
                <a:spcPts val="1000"/>
              </a:spcAft>
              <a:defRPr sz="2400">
                <a:solidFill>
                  <a:srgbClr val="1B2430"/>
                </a:solidFill>
              </a:defRPr>
            </a:pPr>
            <a:r>
              <a:t>• Textbook RSA is unsafe and plain RSA cannot handle long messages</a:t>
            </a:r>
          </a:p>
          <a:p>
            <a:pPr>
              <a:spcAft>
                <a:spcPts val="1000"/>
              </a:spcAft>
              <a:defRPr sz="2400">
                <a:solidFill>
                  <a:srgbClr val="1B2430"/>
                </a:solidFill>
              </a:defRPr>
            </a:pPr>
            <a:r>
              <a:t>• Need: confidentiality + integrity + authenticity in one simple tool</a:t>
            </a:r>
          </a:p>
        </p:txBody>
      </p:sp>
      <p:sp>
        <p:nvSpPr>
          <p:cNvPr id="5" name="TextBox 4"/>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Objectives</a:t>
            </a:r>
          </a:p>
        </p:txBody>
      </p:sp>
      <p:sp>
        <p:nvSpPr>
          <p:cNvPr id="4" name="TextBox 3"/>
          <p:cNvSpPr txBox="1"/>
          <p:nvPr/>
        </p:nvSpPr>
        <p:spPr>
          <a:xfrm>
            <a:off x="548640" y="1371600"/>
            <a:ext cx="11064240" cy="4937760"/>
          </a:xfrm>
          <a:prstGeom prst="rect">
            <a:avLst/>
          </a:prstGeom>
          <a:noFill/>
        </p:spPr>
        <p:txBody>
          <a:bodyPr wrap="square">
            <a:spAutoFit/>
          </a:bodyPr>
          <a:lstStyle/>
          <a:p>
            <a:pPr>
              <a:spcAft>
                <a:spcPts val="1000"/>
              </a:spcAft>
              <a:defRPr sz="2400">
                <a:solidFill>
                  <a:srgbClr val="1B2430"/>
                </a:solidFill>
              </a:defRPr>
            </a:pPr>
            <a:r>
              <a:t>• Implement RSA key generation and secure key storage</a:t>
            </a:r>
          </a:p>
          <a:p>
            <a:pPr>
              <a:spcAft>
                <a:spcPts val="1000"/>
              </a:spcAft>
              <a:defRPr sz="2400">
                <a:solidFill>
                  <a:srgbClr val="1B2430"/>
                </a:solidFill>
              </a:defRPr>
            </a:pPr>
            <a:r>
              <a:t>• Encrypt and decrypt with RSA-OAEP (SHA-256)</a:t>
            </a:r>
          </a:p>
          <a:p>
            <a:pPr>
              <a:spcAft>
                <a:spcPts val="1000"/>
              </a:spcAft>
              <a:defRPr sz="2400">
                <a:solidFill>
                  <a:srgbClr val="1B2430"/>
                </a:solidFill>
              </a:defRPr>
            </a:pPr>
            <a:r>
              <a:t>• Sign and verify with RSA-PSS (SHA-256)</a:t>
            </a:r>
          </a:p>
          <a:p>
            <a:pPr>
              <a:spcAft>
                <a:spcPts val="1000"/>
              </a:spcAft>
              <a:defRPr sz="2400">
                <a:solidFill>
                  <a:srgbClr val="1B2430"/>
                </a:solidFill>
              </a:defRPr>
            </a:pPr>
            <a:r>
              <a:t>• Support long messages through hybrid AES-256-GCM + RSA</a:t>
            </a:r>
          </a:p>
          <a:p>
            <a:pPr>
              <a:spcAft>
                <a:spcPts val="1000"/>
              </a:spcAft>
              <a:defRPr sz="2400">
                <a:solidFill>
                  <a:srgbClr val="1B2430"/>
                </a:solidFill>
              </a:defRPr>
            </a:pPr>
            <a:r>
              <a:t>• Demonstrate wrong-key and tampering failures</a:t>
            </a:r>
          </a:p>
          <a:p>
            <a:pPr>
              <a:spcAft>
                <a:spcPts val="1000"/>
              </a:spcAft>
              <a:defRPr sz="2400">
                <a:solidFill>
                  <a:srgbClr val="1B2430"/>
                </a:solidFill>
              </a:defRPr>
            </a:pPr>
            <a:r>
              <a:t>• Teach RSA mathematics and test everything</a:t>
            </a:r>
          </a:p>
        </p:txBody>
      </p:sp>
      <p:sp>
        <p:nvSpPr>
          <p:cNvPr id="5" name="TextBox 4"/>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Public-Key Cryptography Background</a:t>
            </a:r>
          </a:p>
        </p:txBody>
      </p:sp>
      <p:sp>
        <p:nvSpPr>
          <p:cNvPr id="4" name="TextBox 3"/>
          <p:cNvSpPr txBox="1"/>
          <p:nvPr/>
        </p:nvSpPr>
        <p:spPr>
          <a:xfrm>
            <a:off x="548640" y="1371600"/>
            <a:ext cx="11064240" cy="4937760"/>
          </a:xfrm>
          <a:prstGeom prst="rect">
            <a:avLst/>
          </a:prstGeom>
          <a:noFill/>
        </p:spPr>
        <p:txBody>
          <a:bodyPr wrap="square">
            <a:spAutoFit/>
          </a:bodyPr>
          <a:lstStyle/>
          <a:p>
            <a:pPr>
              <a:spcAft>
                <a:spcPts val="1000"/>
              </a:spcAft>
              <a:defRPr sz="2400">
                <a:solidFill>
                  <a:srgbClr val="1B2430"/>
                </a:solidFill>
              </a:defRPr>
            </a:pPr>
            <a:r>
              <a:t>• Each user has a public key (share) and a private key (secret)</a:t>
            </a:r>
          </a:p>
          <a:p>
            <a:pPr>
              <a:spcAft>
                <a:spcPts val="1000"/>
              </a:spcAft>
              <a:defRPr sz="2400">
                <a:solidFill>
                  <a:srgbClr val="1B2430"/>
                </a:solidFill>
              </a:defRPr>
            </a:pPr>
            <a:r>
              <a:t>• Requirements: easy to generate, easy to use, infeasible to derive private from public</a:t>
            </a:r>
          </a:p>
          <a:p>
            <a:pPr>
              <a:spcAft>
                <a:spcPts val="1000"/>
              </a:spcAft>
              <a:defRPr sz="2400">
                <a:solidFill>
                  <a:srgbClr val="1B2430"/>
                </a:solidFill>
              </a:defRPr>
            </a:pPr>
            <a:r>
              <a:t>• Applications: encryption, digital signatures, key exchange</a:t>
            </a:r>
          </a:p>
          <a:p>
            <a:pPr>
              <a:spcAft>
                <a:spcPts val="1000"/>
              </a:spcAft>
              <a:defRPr sz="2400">
                <a:solidFill>
                  <a:srgbClr val="1B2430"/>
                </a:solidFill>
              </a:defRPr>
            </a:pPr>
            <a:r>
              <a:t>• Symmetric = fast, one shared key; Asymmetric = slower, solves key distribution</a:t>
            </a:r>
          </a:p>
        </p:txBody>
      </p:sp>
      <p:sp>
        <p:nvSpPr>
          <p:cNvPr id="5" name="TextBox 4"/>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RSA Algorithm and Mathematics</a:t>
            </a:r>
          </a:p>
        </p:txBody>
      </p:sp>
      <p:sp>
        <p:nvSpPr>
          <p:cNvPr id="4" name="TextBox 3"/>
          <p:cNvSpPr txBox="1"/>
          <p:nvPr/>
        </p:nvSpPr>
        <p:spPr>
          <a:xfrm>
            <a:off x="548640" y="1371600"/>
            <a:ext cx="11064240" cy="4937760"/>
          </a:xfrm>
          <a:prstGeom prst="rect">
            <a:avLst/>
          </a:prstGeom>
          <a:noFill/>
        </p:spPr>
        <p:txBody>
          <a:bodyPr wrap="square">
            <a:spAutoFit/>
          </a:bodyPr>
          <a:lstStyle/>
          <a:p>
            <a:pPr>
              <a:spcAft>
                <a:spcPts val="1000"/>
              </a:spcAft>
              <a:defRPr sz="2400">
                <a:solidFill>
                  <a:srgbClr val="1B2430"/>
                </a:solidFill>
              </a:defRPr>
            </a:pPr>
            <a:r>
              <a:t>• Pick primes p, q;  n = p x q;  phi(n) = (p-1)(q-1)</a:t>
            </a:r>
          </a:p>
          <a:p>
            <a:pPr>
              <a:spcAft>
                <a:spcPts val="1000"/>
              </a:spcAft>
              <a:defRPr sz="2400">
                <a:solidFill>
                  <a:srgbClr val="1B2430"/>
                </a:solidFill>
              </a:defRPr>
            </a:pPr>
            <a:r>
              <a:t>• Public e = 65537;  private d = e^-1 mod phi(n)</a:t>
            </a:r>
          </a:p>
          <a:p>
            <a:pPr>
              <a:spcAft>
                <a:spcPts val="1000"/>
              </a:spcAft>
              <a:defRPr sz="2400">
                <a:solidFill>
                  <a:srgbClr val="1B2430"/>
                </a:solidFill>
              </a:defRPr>
            </a:pPr>
            <a:r>
              <a:t>• Encrypt c = m^e mod n;  decrypt m = c^d mod n</a:t>
            </a:r>
          </a:p>
          <a:p>
            <a:pPr>
              <a:spcAft>
                <a:spcPts val="1000"/>
              </a:spcAft>
              <a:defRPr sz="2400">
                <a:solidFill>
                  <a:srgbClr val="1B2430"/>
                </a:solidFill>
              </a:defRPr>
            </a:pPr>
            <a:r>
              <a:t>• Security rests on the difficulty of factoring n</a:t>
            </a:r>
          </a:p>
          <a:p>
            <a:pPr>
              <a:spcAft>
                <a:spcPts val="1000"/>
              </a:spcAft>
              <a:defRPr sz="2400">
                <a:solidFill>
                  <a:srgbClr val="1B2430"/>
                </a:solidFill>
              </a:defRPr>
            </a:pPr>
            <a:r>
              <a:t>• Example: p=61, q=53, e=17, d=2753; m=65 -&gt; c=2790</a:t>
            </a:r>
          </a:p>
          <a:p>
            <a:pPr>
              <a:spcAft>
                <a:spcPts val="1000"/>
              </a:spcAft>
              <a:defRPr sz="2400">
                <a:solidFill>
                  <a:srgbClr val="1B2430"/>
                </a:solidFill>
              </a:defRPr>
            </a:pPr>
            <a:r>
              <a:t>• Textbook RSA is deterministic and malleable -&gt; use OAEP / PSS padding</a:t>
            </a:r>
          </a:p>
        </p:txBody>
      </p:sp>
      <p:sp>
        <p:nvSpPr>
          <p:cNvPr id="5" name="TextBox 4"/>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System Architecture</a:t>
            </a:r>
          </a:p>
        </p:txBody>
      </p:sp>
      <p:sp>
        <p:nvSpPr>
          <p:cNvPr id="4" name="TextBox 3"/>
          <p:cNvSpPr txBox="1"/>
          <p:nvPr/>
        </p:nvSpPr>
        <p:spPr>
          <a:xfrm>
            <a:off x="548640" y="1371600"/>
            <a:ext cx="5669280" cy="4937760"/>
          </a:xfrm>
          <a:prstGeom prst="rect">
            <a:avLst/>
          </a:prstGeom>
          <a:noFill/>
        </p:spPr>
        <p:txBody>
          <a:bodyPr wrap="square">
            <a:spAutoFit/>
          </a:bodyPr>
          <a:lstStyle/>
          <a:p>
            <a:pPr>
              <a:spcAft>
                <a:spcPts val="1000"/>
              </a:spcAft>
              <a:defRPr sz="2000">
                <a:solidFill>
                  <a:srgbClr val="1B2430"/>
                </a:solidFill>
              </a:defRPr>
            </a:pPr>
            <a:r>
              <a:t>• GUI layer: Tkinter tabs, no crypto code</a:t>
            </a:r>
          </a:p>
          <a:p>
            <a:pPr>
              <a:spcAft>
                <a:spcPts val="1000"/>
              </a:spcAft>
              <a:defRPr sz="2000">
                <a:solidFill>
                  <a:srgbClr val="1B2430"/>
                </a:solidFill>
              </a:defRPr>
            </a:pPr>
            <a:r>
              <a:t>• Crypto layer: keys, OAEP, PSS, hybrid, toy RSA</a:t>
            </a:r>
          </a:p>
          <a:p>
            <a:pPr>
              <a:spcAft>
                <a:spcPts val="1000"/>
              </a:spcAft>
              <a:defRPr sz="2000">
                <a:solidFill>
                  <a:srgbClr val="1B2430"/>
                </a:solidFill>
              </a:defRPr>
            </a:pPr>
            <a:r>
              <a:t>• Utilities: validation and file handling</a:t>
            </a:r>
          </a:p>
          <a:p>
            <a:pPr>
              <a:spcAft>
                <a:spcPts val="1000"/>
              </a:spcAft>
              <a:defRPr sz="2000">
                <a:solidFill>
                  <a:srgbClr val="1B2430"/>
                </a:solidFill>
              </a:defRPr>
            </a:pPr>
            <a:r>
              <a:t>• Backend: Python 'cryptography' library (OpenSSL)</a:t>
            </a:r>
          </a:p>
        </p:txBody>
      </p:sp>
      <p:pic>
        <p:nvPicPr>
          <p:cNvPr id="5" name="Picture 4" descr="01_architecture.png"/>
          <p:cNvPicPr>
            <a:picLocks noChangeAspect="1"/>
          </p:cNvPicPr>
          <p:nvPr/>
        </p:nvPicPr>
        <p:blipFill>
          <a:blip r:embed="rId2"/>
          <a:stretch>
            <a:fillRect/>
          </a:stretch>
        </p:blipFill>
        <p:spPr>
          <a:xfrm>
            <a:off x="6309360" y="1280160"/>
            <a:ext cx="2112823" cy="5120640"/>
          </a:xfrm>
          <a:prstGeom prst="rect">
            <a:avLst/>
          </a:prstGeom>
        </p:spPr>
      </p:pic>
      <p:sp>
        <p:nvSpPr>
          <p:cNvPr id="6" name="TextBox 5"/>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Application Modules</a:t>
            </a:r>
          </a:p>
        </p:txBody>
      </p:sp>
      <p:sp>
        <p:nvSpPr>
          <p:cNvPr id="4" name="TextBox 3"/>
          <p:cNvSpPr txBox="1"/>
          <p:nvPr/>
        </p:nvSpPr>
        <p:spPr>
          <a:xfrm>
            <a:off x="548640" y="1371600"/>
            <a:ext cx="11064240" cy="4937760"/>
          </a:xfrm>
          <a:prstGeom prst="rect">
            <a:avLst/>
          </a:prstGeom>
          <a:noFill/>
        </p:spPr>
        <p:txBody>
          <a:bodyPr wrap="square">
            <a:spAutoFit/>
          </a:bodyPr>
          <a:lstStyle/>
          <a:p>
            <a:pPr>
              <a:spcAft>
                <a:spcPts val="1000"/>
              </a:spcAft>
              <a:defRPr sz="2400">
                <a:solidFill>
                  <a:srgbClr val="1B2430"/>
                </a:solidFill>
              </a:defRPr>
            </a:pPr>
            <a:r>
              <a:t>• Dashboard - key status and shortcuts</a:t>
            </a:r>
          </a:p>
          <a:p>
            <a:pPr>
              <a:spcAft>
                <a:spcPts val="1000"/>
              </a:spcAft>
              <a:defRPr sz="2400">
                <a:solidFill>
                  <a:srgbClr val="1B2430"/>
                </a:solidFill>
              </a:defRPr>
            </a:pPr>
            <a:r>
              <a:t>• Key Management - generate, export, import (encrypted private key)</a:t>
            </a:r>
          </a:p>
          <a:p>
            <a:pPr>
              <a:spcAft>
                <a:spcPts val="1000"/>
              </a:spcAft>
              <a:defRPr sz="2400">
                <a:solidFill>
                  <a:srgbClr val="1B2430"/>
                </a:solidFill>
              </a:defRPr>
            </a:pPr>
            <a:r>
              <a:t>• Encryption / Decryption - RSA-OAEP, Base64, copy and save</a:t>
            </a:r>
          </a:p>
          <a:p>
            <a:pPr>
              <a:spcAft>
                <a:spcPts val="1000"/>
              </a:spcAft>
              <a:defRPr sz="2400">
                <a:solidFill>
                  <a:srgbClr val="1B2430"/>
                </a:solidFill>
              </a:defRPr>
            </a:pPr>
            <a:r>
              <a:t>• Digital Signature - sign, verify, tamper demos</a:t>
            </a:r>
          </a:p>
          <a:p>
            <a:pPr>
              <a:spcAft>
                <a:spcPts val="1000"/>
              </a:spcAft>
              <a:defRPr sz="2400">
                <a:solidFill>
                  <a:srgbClr val="1B2430"/>
                </a:solidFill>
              </a:defRPr>
            </a:pPr>
            <a:r>
              <a:t>• Hybrid Encryption - long messages, JSON envelope</a:t>
            </a:r>
          </a:p>
          <a:p>
            <a:pPr>
              <a:spcAft>
                <a:spcPts val="1000"/>
              </a:spcAft>
              <a:defRPr sz="2400">
                <a:solidFill>
                  <a:srgbClr val="1B2430"/>
                </a:solidFill>
              </a:defRPr>
            </a:pPr>
            <a:r>
              <a:t>• RSA Math and Help - toy calculator and guide</a:t>
            </a:r>
          </a:p>
        </p:txBody>
      </p:sp>
      <p:sp>
        <p:nvSpPr>
          <p:cNvPr id="5" name="TextBox 4"/>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Encryption and Decryption Workflow</a:t>
            </a:r>
          </a:p>
        </p:txBody>
      </p:sp>
      <p:sp>
        <p:nvSpPr>
          <p:cNvPr id="4" name="TextBox 3"/>
          <p:cNvSpPr txBox="1"/>
          <p:nvPr/>
        </p:nvSpPr>
        <p:spPr>
          <a:xfrm>
            <a:off x="548640" y="1371600"/>
            <a:ext cx="5669280" cy="4937760"/>
          </a:xfrm>
          <a:prstGeom prst="rect">
            <a:avLst/>
          </a:prstGeom>
          <a:noFill/>
        </p:spPr>
        <p:txBody>
          <a:bodyPr wrap="square">
            <a:spAutoFit/>
          </a:bodyPr>
          <a:lstStyle/>
          <a:p>
            <a:pPr>
              <a:spcAft>
                <a:spcPts val="1000"/>
              </a:spcAft>
              <a:defRPr sz="2000">
                <a:solidFill>
                  <a:srgbClr val="1B2430"/>
                </a:solidFill>
              </a:defRPr>
            </a:pPr>
            <a:r>
              <a:t>• Recipient shares public key</a:t>
            </a:r>
          </a:p>
          <a:p>
            <a:pPr>
              <a:spcAft>
                <a:spcPts val="1000"/>
              </a:spcAft>
              <a:defRPr sz="2000">
                <a:solidFill>
                  <a:srgbClr val="1B2430"/>
                </a:solidFill>
              </a:defRPr>
            </a:pPr>
            <a:r>
              <a:t>• Sender encrypts with RSA-OAEP (max 190 bytes at 2048 bits)</a:t>
            </a:r>
          </a:p>
          <a:p>
            <a:pPr>
              <a:spcAft>
                <a:spcPts val="1000"/>
              </a:spcAft>
              <a:defRPr sz="2000">
                <a:solidFill>
                  <a:srgbClr val="1B2430"/>
                </a:solidFill>
              </a:defRPr>
            </a:pPr>
            <a:r>
              <a:t>• Output is Base64</a:t>
            </a:r>
          </a:p>
          <a:p>
            <a:pPr>
              <a:spcAft>
                <a:spcPts val="1000"/>
              </a:spcAft>
              <a:defRPr sz="2000">
                <a:solidFill>
                  <a:srgbClr val="1B2430"/>
                </a:solidFill>
              </a:defRPr>
            </a:pPr>
            <a:r>
              <a:t>• Recipient decrypts with private key</a:t>
            </a:r>
          </a:p>
          <a:p>
            <a:pPr>
              <a:spcAft>
                <a:spcPts val="1000"/>
              </a:spcAft>
              <a:defRPr sz="2000">
                <a:solidFill>
                  <a:srgbClr val="1B2430"/>
                </a:solidFill>
              </a:defRPr>
            </a:pPr>
            <a:r>
              <a:t>• Wrong key or modified data -&gt; clear error</a:t>
            </a:r>
          </a:p>
        </p:txBody>
      </p:sp>
      <p:pic>
        <p:nvPicPr>
          <p:cNvPr id="5" name="Picture 4" descr="06_encrypt_sequence.png"/>
          <p:cNvPicPr>
            <a:picLocks noChangeAspect="1"/>
          </p:cNvPicPr>
          <p:nvPr/>
        </p:nvPicPr>
        <p:blipFill>
          <a:blip r:embed="rId2"/>
          <a:stretch>
            <a:fillRect/>
          </a:stretch>
        </p:blipFill>
        <p:spPr>
          <a:xfrm>
            <a:off x="6309360" y="1280160"/>
            <a:ext cx="5669279" cy="3998867"/>
          </a:xfrm>
          <a:prstGeom prst="rect">
            <a:avLst/>
          </a:prstGeom>
        </p:spPr>
      </p:pic>
      <p:sp>
        <p:nvSpPr>
          <p:cNvPr id="6" name="TextBox 5"/>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Digital Signatures</a:t>
            </a:r>
          </a:p>
        </p:txBody>
      </p:sp>
      <p:sp>
        <p:nvSpPr>
          <p:cNvPr id="4" name="TextBox 3"/>
          <p:cNvSpPr txBox="1"/>
          <p:nvPr/>
        </p:nvSpPr>
        <p:spPr>
          <a:xfrm>
            <a:off x="548640" y="1371600"/>
            <a:ext cx="5669280" cy="4937760"/>
          </a:xfrm>
          <a:prstGeom prst="rect">
            <a:avLst/>
          </a:prstGeom>
          <a:noFill/>
        </p:spPr>
        <p:txBody>
          <a:bodyPr wrap="square">
            <a:spAutoFit/>
          </a:bodyPr>
          <a:lstStyle/>
          <a:p>
            <a:pPr>
              <a:spcAft>
                <a:spcPts val="1000"/>
              </a:spcAft>
              <a:defRPr sz="2000">
                <a:solidFill>
                  <a:srgbClr val="1B2430"/>
                </a:solidFill>
              </a:defRPr>
            </a:pPr>
            <a:r>
              <a:t>• Sign with private key (RSA-PSS + SHA-256)</a:t>
            </a:r>
          </a:p>
          <a:p>
            <a:pPr>
              <a:spcAft>
                <a:spcPts val="1000"/>
              </a:spcAft>
              <a:defRPr sz="2000">
                <a:solidFill>
                  <a:srgbClr val="1B2430"/>
                </a:solidFill>
              </a:defRPr>
            </a:pPr>
            <a:r>
              <a:t>• Verify with public key</a:t>
            </a:r>
          </a:p>
          <a:p>
            <a:pPr>
              <a:spcAft>
                <a:spcPts val="1000"/>
              </a:spcAft>
              <a:defRPr sz="2000">
                <a:solidFill>
                  <a:srgbClr val="1B2430"/>
                </a:solidFill>
              </a:defRPr>
            </a:pPr>
            <a:r>
              <a:t>• Proves integrity, authenticity, non-repudiation</a:t>
            </a:r>
          </a:p>
          <a:p>
            <a:pPr>
              <a:spcAft>
                <a:spcPts val="1000"/>
              </a:spcAft>
              <a:defRPr sz="2000">
                <a:solidFill>
                  <a:srgbClr val="1B2430"/>
                </a:solidFill>
              </a:defRPr>
            </a:pPr>
            <a:r>
              <a:t>• Does NOT hide the message</a:t>
            </a:r>
          </a:p>
          <a:p>
            <a:pPr>
              <a:spcAft>
                <a:spcPts val="1000"/>
              </a:spcAft>
              <a:defRPr sz="2000">
                <a:solidFill>
                  <a:srgbClr val="1B2430"/>
                </a:solidFill>
              </a:defRPr>
            </a:pPr>
            <a:r>
              <a:t>• Changing one character makes verification fail</a:t>
            </a:r>
          </a:p>
        </p:txBody>
      </p:sp>
      <p:pic>
        <p:nvPicPr>
          <p:cNvPr id="5" name="Picture 4" descr="07_signature_sequence.png"/>
          <p:cNvPicPr>
            <a:picLocks noChangeAspect="1"/>
          </p:cNvPicPr>
          <p:nvPr/>
        </p:nvPicPr>
        <p:blipFill>
          <a:blip r:embed="rId2"/>
          <a:stretch>
            <a:fillRect/>
          </a:stretch>
        </p:blipFill>
        <p:spPr>
          <a:xfrm>
            <a:off x="6309360" y="1280160"/>
            <a:ext cx="5669279" cy="3731311"/>
          </a:xfrm>
          <a:prstGeom prst="rect">
            <a:avLst/>
          </a:prstGeom>
        </p:spPr>
      </p:pic>
      <p:sp>
        <p:nvSpPr>
          <p:cNvPr id="6" name="TextBox 5"/>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Hybrid Encryption</a:t>
            </a:r>
          </a:p>
        </p:txBody>
      </p:sp>
      <p:sp>
        <p:nvSpPr>
          <p:cNvPr id="4" name="TextBox 3"/>
          <p:cNvSpPr txBox="1"/>
          <p:nvPr/>
        </p:nvSpPr>
        <p:spPr>
          <a:xfrm>
            <a:off x="548640" y="1371600"/>
            <a:ext cx="5669280" cy="4937760"/>
          </a:xfrm>
          <a:prstGeom prst="rect">
            <a:avLst/>
          </a:prstGeom>
          <a:noFill/>
        </p:spPr>
        <p:txBody>
          <a:bodyPr wrap="square">
            <a:spAutoFit/>
          </a:bodyPr>
          <a:lstStyle/>
          <a:p>
            <a:pPr>
              <a:spcAft>
                <a:spcPts val="1000"/>
              </a:spcAft>
              <a:defRPr sz="2000">
                <a:solidFill>
                  <a:srgbClr val="1B2430"/>
                </a:solidFill>
              </a:defRPr>
            </a:pPr>
            <a:r>
              <a:t>• RSA is slow and limited to 190 bytes</a:t>
            </a:r>
          </a:p>
          <a:p>
            <a:pPr>
              <a:spcAft>
                <a:spcPts val="1000"/>
              </a:spcAft>
              <a:defRPr sz="2000">
                <a:solidFill>
                  <a:srgbClr val="1B2430"/>
                </a:solidFill>
              </a:defRPr>
            </a:pPr>
            <a:r>
              <a:t>• Fresh AES-256 key + random 12-byte nonce per message</a:t>
            </a:r>
          </a:p>
          <a:p>
            <a:pPr>
              <a:spcAft>
                <a:spcPts val="1000"/>
              </a:spcAft>
              <a:defRPr sz="2000">
                <a:solidFill>
                  <a:srgbClr val="1B2430"/>
                </a:solidFill>
              </a:defRPr>
            </a:pPr>
            <a:r>
              <a:t>• AES-GCM encrypts and authenticates the text</a:t>
            </a:r>
          </a:p>
          <a:p>
            <a:pPr>
              <a:spcAft>
                <a:spcPts val="1000"/>
              </a:spcAft>
              <a:defRPr sz="2000">
                <a:solidFill>
                  <a:srgbClr val="1B2430"/>
                </a:solidFill>
              </a:defRPr>
            </a:pPr>
            <a:r>
              <a:t>• RSA-OAEP wraps the AES key</a:t>
            </a:r>
          </a:p>
          <a:p>
            <a:pPr>
              <a:spcAft>
                <a:spcPts val="1000"/>
              </a:spcAft>
              <a:defRPr sz="2000">
                <a:solidFill>
                  <a:srgbClr val="1B2430"/>
                </a:solidFill>
              </a:defRPr>
            </a:pPr>
            <a:r>
              <a:t>• Envelope: version, alg, wrapped_key, nonce, ciphertext (Base64 JSON)</a:t>
            </a:r>
          </a:p>
        </p:txBody>
      </p:sp>
      <p:pic>
        <p:nvPicPr>
          <p:cNvPr id="5" name="Picture 4" descr="08_hybrid_sequence.png"/>
          <p:cNvPicPr>
            <a:picLocks noChangeAspect="1"/>
          </p:cNvPicPr>
          <p:nvPr/>
        </p:nvPicPr>
        <p:blipFill>
          <a:blip r:embed="rId2"/>
          <a:stretch>
            <a:fillRect/>
          </a:stretch>
        </p:blipFill>
        <p:spPr>
          <a:xfrm>
            <a:off x="6309360" y="1280160"/>
            <a:ext cx="5669279" cy="4179647"/>
          </a:xfrm>
          <a:prstGeom prst="rect">
            <a:avLst/>
          </a:prstGeom>
        </p:spPr>
      </p:pic>
      <p:sp>
        <p:nvSpPr>
          <p:cNvPr id="6" name="TextBox 5"/>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Implementation Screenshots</a:t>
            </a:r>
          </a:p>
        </p:txBody>
      </p:sp>
      <p:sp>
        <p:nvSpPr>
          <p:cNvPr id="4" name="TextBox 3"/>
          <p:cNvSpPr txBox="1"/>
          <p:nvPr/>
        </p:nvSpPr>
        <p:spPr>
          <a:xfrm>
            <a:off x="548640" y="1371600"/>
            <a:ext cx="11064240" cy="4937760"/>
          </a:xfrm>
          <a:prstGeom prst="rect">
            <a:avLst/>
          </a:prstGeom>
          <a:noFill/>
        </p:spPr>
        <p:txBody>
          <a:bodyPr wrap="square">
            <a:spAutoFit/>
          </a:bodyPr>
          <a:lstStyle/>
          <a:p>
            <a:pPr>
              <a:spcAft>
                <a:spcPts val="1000"/>
              </a:spcAft>
              <a:defRPr sz="2400">
                <a:solidFill>
                  <a:srgbClr val="1B2430"/>
                </a:solidFill>
              </a:defRPr>
            </a:pPr>
            <a:r>
              <a:t>• [Insert your own screenshots here]</a:t>
            </a:r>
          </a:p>
          <a:p>
            <a:pPr>
              <a:spcAft>
                <a:spcPts val="1000"/>
              </a:spcAft>
              <a:defRPr sz="2400">
                <a:solidFill>
                  <a:srgbClr val="1B2430"/>
                </a:solidFill>
              </a:defRPr>
            </a:pPr>
            <a:r>
              <a:t>• Dashboard, key generation, encryption, decryption, wrong-key demo, signature valid / tampered, hybrid, tests</a:t>
            </a:r>
          </a:p>
          <a:p>
            <a:pPr>
              <a:spcAft>
                <a:spcPts val="1000"/>
              </a:spcAft>
              <a:defRPr sz="2400">
                <a:solidFill>
                  <a:srgbClr val="1B2430"/>
                </a:solidFill>
              </a:defRPr>
            </a:pPr>
            <a:r>
              <a:t>• See screenshots/README.md for the list</a:t>
            </a:r>
          </a:p>
        </p:txBody>
      </p:sp>
      <p:sp>
        <p:nvSpPr>
          <p:cNvPr id="5" name="Rectangle 4"/>
          <p:cNvSpPr/>
          <p:nvPr/>
        </p:nvSpPr>
        <p:spPr>
          <a:xfrm>
            <a:off x="548640" y="3931920"/>
            <a:ext cx="11064240" cy="2194560"/>
          </a:xfrm>
          <a:prstGeom prst="rect">
            <a:avLst/>
          </a:prstGeom>
          <a:noFill/>
          <a:ln w="254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200">
                <a:solidFill>
                  <a:srgbClr val="5F6B7A"/>
                </a:solidFill>
              </a:defRPr>
            </a:pPr>
            <a:r>
              <a:t>Paste your own application screenshots here</a:t>
            </a:r>
          </a:p>
        </p:txBody>
      </p:sp>
      <p:sp>
        <p:nvSpPr>
          <p:cNvPr id="6" name="TextBox 5"/>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Testing and Results</a:t>
            </a:r>
          </a:p>
        </p:txBody>
      </p:sp>
      <p:sp>
        <p:nvSpPr>
          <p:cNvPr id="4" name="TextBox 3"/>
          <p:cNvSpPr txBox="1"/>
          <p:nvPr/>
        </p:nvSpPr>
        <p:spPr>
          <a:xfrm>
            <a:off x="548640" y="1371600"/>
            <a:ext cx="11064240" cy="4937760"/>
          </a:xfrm>
          <a:prstGeom prst="rect">
            <a:avLst/>
          </a:prstGeom>
          <a:noFill/>
        </p:spPr>
        <p:txBody>
          <a:bodyPr wrap="square">
            <a:spAutoFit/>
          </a:bodyPr>
          <a:lstStyle/>
          <a:p>
            <a:pPr>
              <a:spcAft>
                <a:spcPts val="1000"/>
              </a:spcAft>
              <a:defRPr sz="2400">
                <a:solidFill>
                  <a:srgbClr val="1B2430"/>
                </a:solidFill>
              </a:defRPr>
            </a:pPr>
            <a:r>
              <a:t>• 46 automated unit tests: keys, OAEP, PSS, hybrid, toy RSA</a:t>
            </a:r>
          </a:p>
          <a:p>
            <a:pPr>
              <a:spcAft>
                <a:spcPts val="1000"/>
              </a:spcAft>
              <a:defRPr sz="2400">
                <a:solidFill>
                  <a:srgbClr val="1B2430"/>
                </a:solidFill>
              </a:defRPr>
            </a:pPr>
            <a:r>
              <a:t>• Recorded run: 46 run, 46 passed, 0 failed (Python 3.13, Linux, cryptography 50.0.1)</a:t>
            </a:r>
          </a:p>
          <a:p>
            <a:pPr>
              <a:spcAft>
                <a:spcPts val="1000"/>
              </a:spcAft>
              <a:defRPr sz="2400">
                <a:solidFill>
                  <a:srgbClr val="1B2430"/>
                </a:solidFill>
              </a:defRPr>
            </a:pPr>
            <a:r>
              <a:t>• Covers wrong key, tampering, invalid input, Unicode, oversize message, bad key files</a:t>
            </a:r>
          </a:p>
          <a:p>
            <a:pPr>
              <a:spcAft>
                <a:spcPts val="1000"/>
              </a:spcAft>
              <a:defRPr sz="2400">
                <a:solidFill>
                  <a:srgbClr val="1B2430"/>
                </a:solidFill>
              </a:defRPr>
            </a:pPr>
            <a:r>
              <a:t>• GUI wiring checked with a fake Tkinter (30 checks); real GUI tried manually - [confirm before presenting]</a:t>
            </a:r>
          </a:p>
          <a:p>
            <a:pPr>
              <a:spcAft>
                <a:spcPts val="1000"/>
              </a:spcAft>
              <a:defRPr sz="2400">
                <a:solidFill>
                  <a:srgbClr val="1B2430"/>
                </a:solidFill>
              </a:defRPr>
            </a:pPr>
            <a:r>
              <a:t>• Re-run: python -m unittest discover -s tests -v</a:t>
            </a:r>
          </a:p>
        </p:txBody>
      </p:sp>
      <p:sp>
        <p:nvSpPr>
          <p:cNvPr id="5" name="TextBox 4"/>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Security Analysis and Limitations</a:t>
            </a:r>
          </a:p>
        </p:txBody>
      </p:sp>
      <p:sp>
        <p:nvSpPr>
          <p:cNvPr id="4" name="TextBox 3"/>
          <p:cNvSpPr txBox="1"/>
          <p:nvPr/>
        </p:nvSpPr>
        <p:spPr>
          <a:xfrm>
            <a:off x="548640" y="1371600"/>
            <a:ext cx="11064240" cy="4937760"/>
          </a:xfrm>
          <a:prstGeom prst="rect">
            <a:avLst/>
          </a:prstGeom>
          <a:noFill/>
        </p:spPr>
        <p:txBody>
          <a:bodyPr wrap="square">
            <a:spAutoFit/>
          </a:bodyPr>
          <a:lstStyle/>
          <a:p>
            <a:pPr>
              <a:spcAft>
                <a:spcPts val="1000"/>
              </a:spcAft>
              <a:defRPr sz="2400">
                <a:solidFill>
                  <a:srgbClr val="1B2430"/>
                </a:solidFill>
              </a:defRPr>
            </a:pPr>
            <a:r>
              <a:t>• Strong: OAEP/PSS padding, 2048+ bit keys, AES-GCM, encrypted private keys</a:t>
            </a:r>
          </a:p>
          <a:p>
            <a:pPr>
              <a:spcAft>
                <a:spcPts val="1000"/>
              </a:spcAft>
              <a:defRPr sz="2400">
                <a:solidFill>
                  <a:srgbClr val="1B2430"/>
                </a:solidFill>
              </a:defRPr>
            </a:pPr>
            <a:r>
              <a:t>• No certificates: public keys are not authenticated</a:t>
            </a:r>
          </a:p>
          <a:p>
            <a:pPr>
              <a:spcAft>
                <a:spcPts val="1000"/>
              </a:spcAft>
              <a:defRPr sz="2400">
                <a:solidFill>
                  <a:srgbClr val="1B2430"/>
                </a:solidFill>
              </a:defRPr>
            </a:pPr>
            <a:r>
              <a:t>• No key rotation, revocation or forward secrecy</a:t>
            </a:r>
          </a:p>
          <a:p>
            <a:pPr>
              <a:spcAft>
                <a:spcPts val="1000"/>
              </a:spcAft>
              <a:defRPr sz="2400">
                <a:solidFill>
                  <a:srgbClr val="1B2430"/>
                </a:solidFill>
              </a:defRPr>
            </a:pPr>
            <a:r>
              <a:t>• Keys held in memory; no secure wipe</a:t>
            </a:r>
          </a:p>
          <a:p>
            <a:pPr>
              <a:spcAft>
                <a:spcPts val="1000"/>
              </a:spcAft>
              <a:defRPr sz="2400">
                <a:solidFill>
                  <a:srgbClr val="1B2430"/>
                </a:solidFill>
              </a:defRPr>
            </a:pPr>
            <a:r>
              <a:t>• RSA is vulnerable to future quantum computers</a:t>
            </a:r>
          </a:p>
          <a:p>
            <a:pPr>
              <a:spcAft>
                <a:spcPts val="1000"/>
              </a:spcAft>
              <a:defRPr sz="2400">
                <a:solidFill>
                  <a:srgbClr val="1B2430"/>
                </a:solidFill>
              </a:defRPr>
            </a:pPr>
            <a:r>
              <a:t>• Educational software, not independently audited</a:t>
            </a:r>
          </a:p>
        </p:txBody>
      </p:sp>
      <p:sp>
        <p:nvSpPr>
          <p:cNvPr id="5" name="TextBox 4"/>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8"/>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none">
            <a:spAutoFit/>
          </a:bodyPr>
          <a:lstStyle/>
          <a:p>
            <a:pPr>
              <a:defRPr sz="3200" b="1">
                <a:solidFill>
                  <a:srgbClr val="FFFFFF"/>
                </a:solidFill>
              </a:defRPr>
            </a:pPr>
            <a:r>
              <a:t>Conclusion and Future Enhancements</a:t>
            </a:r>
          </a:p>
        </p:txBody>
      </p:sp>
      <p:sp>
        <p:nvSpPr>
          <p:cNvPr id="4" name="TextBox 3"/>
          <p:cNvSpPr txBox="1"/>
          <p:nvPr/>
        </p:nvSpPr>
        <p:spPr>
          <a:xfrm>
            <a:off x="548640" y="1371600"/>
            <a:ext cx="11064240" cy="4937760"/>
          </a:xfrm>
          <a:prstGeom prst="rect">
            <a:avLst/>
          </a:prstGeom>
          <a:noFill/>
        </p:spPr>
        <p:txBody>
          <a:bodyPr wrap="square">
            <a:spAutoFit/>
          </a:bodyPr>
          <a:lstStyle/>
          <a:p>
            <a:pPr>
              <a:spcAft>
                <a:spcPts val="1000"/>
              </a:spcAft>
              <a:defRPr sz="2400">
                <a:solidFill>
                  <a:srgbClr val="1B2430"/>
                </a:solidFill>
              </a:defRPr>
            </a:pPr>
            <a:r>
              <a:t>• SecureText delivers confidentiality, integrity and authenticity with standard RSA</a:t>
            </a:r>
          </a:p>
          <a:p>
            <a:pPr>
              <a:spcAft>
                <a:spcPts val="1000"/>
              </a:spcAft>
              <a:defRPr sz="2400">
                <a:solidFill>
                  <a:srgbClr val="1B2430"/>
                </a:solidFill>
              </a:defRPr>
            </a:pPr>
            <a:r>
              <a:t>• Future: certificates / PKI, ECC and post-quantum options, file encryption, network messaging, key rotation</a:t>
            </a:r>
          </a:p>
          <a:p>
            <a:pPr>
              <a:spcAft>
                <a:spcPts val="1000"/>
              </a:spcAft>
              <a:defRPr sz="2400">
                <a:solidFill>
                  <a:srgbClr val="1B2430"/>
                </a:solidFill>
              </a:defRPr>
            </a:pPr>
            <a:r>
              <a:t>• Thank you - questions?</a:t>
            </a:r>
          </a:p>
        </p:txBody>
      </p:sp>
      <p:sp>
        <p:nvSpPr>
          <p:cNvPr id="5" name="TextBox 4"/>
          <p:cNvSpPr txBox="1"/>
          <p:nvPr/>
        </p:nvSpPr>
        <p:spPr>
          <a:xfrm>
            <a:off x="548640" y="6400800"/>
            <a:ext cx="10972800" cy="365760"/>
          </a:xfrm>
          <a:prstGeom prst="rect">
            <a:avLst/>
          </a:prstGeom>
          <a:noFill/>
        </p:spPr>
        <p:txBody>
          <a:bodyPr wrap="none">
            <a:spAutoFit/>
          </a:bodyPr>
          <a:lstStyle/>
          <a:p>
            <a:pPr>
              <a:defRPr sz="1100">
                <a:solidFill>
                  <a:srgbClr val="5F6B7A"/>
                </a:solidFill>
              </a:defRPr>
            </a:pPr>
            <a:r>
              <a:t>SecureText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